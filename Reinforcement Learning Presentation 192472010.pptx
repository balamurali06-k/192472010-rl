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18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67350"/>
            <a:ext cx="1127760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19125"/>
            <a:ext cx="2371427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19175"/>
            <a:ext cx="11734800" cy="503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1E293B"/>
                </a:solidFill>
                <a:latin typeface="Space Grotesk"/>
              </a:rPr>
              <a:t>Reinforcement Learning for Environment &amp;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56308"/>
            <a:ext cx="8763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Comprehensive Technical Analysis of Monte Carlo &amp; TD Learning, Policy Gradients, Advanced Policy Optimization (PPO/TRPO/DDPG), MBPO, and Industrial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5705475"/>
            <a:ext cx="25860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Student Name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K. Bala Murali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3762" y="5705475"/>
            <a:ext cx="25860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Register Number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192472010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705475"/>
            <a:ext cx="25860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Course Code &amp; Title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MLA0301 - Reinforcement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0637" y="5705475"/>
            <a:ext cx="258603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Assessment Tool</a:t>
            </a:r>
            <a:r>
              <a:rPr b="0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CO4-AT1 - Technical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5886450"/>
            <a:ext cx="25860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K. Bala Murali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3762" y="5886450"/>
            <a:ext cx="25860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192472010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886450"/>
            <a:ext cx="25860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MLA0301 - Reinforcement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0637" y="5886450"/>
            <a:ext cx="25860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CO4-AT1 -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6031"/>
            <a:ext cx="2676525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2536031"/>
            <a:ext cx="2676525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536031"/>
            <a:ext cx="2676525" cy="2571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8275" y="2536031"/>
            <a:ext cx="2676525" cy="2571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1549" y="534590"/>
            <a:ext cx="1003250" cy="25003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774156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3421856"/>
            <a:ext cx="223434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1. MC &amp; TD Learning (Q2)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764756"/>
            <a:ext cx="22002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Monte Carlo prediction &amp; control, TD(0), SARSA, Q-learning, sample efficiency, and experimental evaluation.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2350" y="2774156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62350" y="3421856"/>
            <a:ext cx="214839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2. Policy-Based RL (Q5)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350" y="3764756"/>
            <a:ext cx="2200275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Vanilla Policy Gradient, REINFORCE algorithm, stochastic policy search, robotics, and self-driving systems.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774156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29375" y="3421856"/>
            <a:ext cx="231028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3. Policy Optimization (Q7)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012406"/>
            <a:ext cx="22002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PPO, TRPO, DDPG, clipped objectives, trust regions, convergence bounds, and stability benchmarks.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00" y="2774156"/>
            <a:ext cx="495300" cy="495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96400" y="3421856"/>
            <a:ext cx="222840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4. MBPO &amp; Planning (Q9)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3764756"/>
            <a:ext cx="22002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Sampling-based planning, model-based data generation, value-equivalence, and rollout optimization.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917031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5225" y="2917031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0" y="2917031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700" y="2917031"/>
            <a:ext cx="26670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Executive Agenda &amp; Questions Selected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482" y="2280344"/>
            <a:ext cx="2091035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737544"/>
            <a:ext cx="90011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Monte Carlo Methods &amp; Temporal-Difference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987105"/>
            <a:ext cx="74295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Comparative investigation of model-free prediction and control algorithms across episodic and continuous horizons.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91569"/>
            <a:ext cx="546735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12156"/>
            <a:ext cx="54673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686" y="534590"/>
            <a:ext cx="1338113" cy="2500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448669"/>
            <a:ext cx="57407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Temporal Difference Error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2963019"/>
            <a:ext cx="367724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3344019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Monte Carlo: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Learns directly from complete episodes ( ); unbiased but high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34569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SARSA (On-Policy):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Updates using action chosen by current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25119"/>
            <a:ext cx="5162550" cy="536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Q-Learning (Off-Policy):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Bootstraps using maximum target action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021681"/>
            <a:ext cx="5448300" cy="3600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2975" y="3410694"/>
            <a:ext cx="168771" cy="13974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4650" y="3991719"/>
            <a:ext cx="630435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788544"/>
            <a:ext cx="1082129" cy="27309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367831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958381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548931"/>
            <a:ext cx="17145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Monte Carlo vs. TD(0), SARSA &amp; Q-Learning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40806"/>
            <a:ext cx="1127760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464" y="534590"/>
            <a:ext cx="1443335" cy="25003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725" y="2650331"/>
          <a:ext cx="11258547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07492"/>
                <a:gridCol w="2200423"/>
                <a:gridCol w="1813619"/>
                <a:gridCol w="2730698"/>
                <a:gridCol w="2906315"/>
              </a:tblGrid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Sampling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Bootstrapping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Variance vs Bias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Convergence 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Monte Carlo (MC)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Episodic Full-Rollout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 (Pure Return 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G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t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Variance / Zero Bias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Slow (Requires complete trajectories)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TD(0) Prediction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Step-by-Step Online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 (1-Step Estimate)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 Variance / Medium Bias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Fast online learning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SARSA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On-Policy (
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S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,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A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,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R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,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S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′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,
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A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            ′
           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
</a:t>
                      </a:r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Moderate Variance &amp; Bias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Safe trajectory convergence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Q-Learning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Off-Policy Greedy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 Variance / Overestimation Bias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sample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6725" y="3587948"/>
            <a:ext cx="160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74217" y="3587948"/>
            <a:ext cx="2200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74641" y="3587948"/>
            <a:ext cx="18136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8260" y="3587948"/>
            <a:ext cx="2730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18959" y="3587948"/>
            <a:ext cx="2906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725" y="4051696"/>
            <a:ext cx="160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74217" y="4051696"/>
            <a:ext cx="2200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4641" y="4051696"/>
            <a:ext cx="18136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8260" y="4051696"/>
            <a:ext cx="2730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18959" y="4051696"/>
            <a:ext cx="2906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725" y="4515445"/>
            <a:ext cx="160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74217" y="4515445"/>
            <a:ext cx="2200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4641" y="4515445"/>
            <a:ext cx="18136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8260" y="4515445"/>
            <a:ext cx="2730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18959" y="4515445"/>
            <a:ext cx="2906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725" y="4979193"/>
            <a:ext cx="16074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74217" y="4979193"/>
            <a:ext cx="2200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4641" y="4979193"/>
            <a:ext cx="18136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8260" y="4979193"/>
            <a:ext cx="27306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18959" y="4979193"/>
            <a:ext cx="29063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691" y="3319462"/>
            <a:ext cx="141833" cy="125759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042" y="4210794"/>
            <a:ext cx="938510" cy="15046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Sample Efficiency &amp; Experimental Performance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194" y="2554634"/>
            <a:ext cx="211961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3440" y="3011834"/>
            <a:ext cx="8445118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Policy-Based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712815"/>
            <a:ext cx="74295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Direct policy optimization in continuous action spaces: REINFORCE, Policy Gradients, and Autonomous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12156"/>
            <a:ext cx="54673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017" y="534590"/>
            <a:ext cx="1500782" cy="2500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712118"/>
            <a:ext cx="57407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Policy Gradient Objective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197893"/>
            <a:ext cx="3050827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807493"/>
            <a:ext cx="516255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Continuous Control: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Parameterizes actions directly via Gaussian distributions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50593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REINFORCE: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Uses empirical return as unbiased estimator of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41143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Stochastic Search: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Ensures smooth exploration over high-dimensional robotic joints.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2021681"/>
            <a:ext cx="42100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450" y="3074193"/>
            <a:ext cx="991195" cy="1543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4817268"/>
            <a:ext cx="168771" cy="139749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033069"/>
            <a:ext cx="713779" cy="15567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831306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774406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364956"/>
            <a:ext cx="17145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Policy Gradient Theorem &amp; REINFORCE Algorithm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67012"/>
            <a:ext cx="3632150" cy="21097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850" y="2767012"/>
            <a:ext cx="3632150" cy="21097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767012"/>
            <a:ext cx="3632150" cy="21097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808" y="534590"/>
            <a:ext cx="1213991" cy="2500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005137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3652837"/>
            <a:ext cx="248640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Continuous Vehicle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995737"/>
            <a:ext cx="31559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output of smooth steering angles, throttle percentages, and braking torque without discretization artifacts.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975" y="300513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17975" y="3652837"/>
            <a:ext cx="199040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Robotic Manipulation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975" y="3995737"/>
            <a:ext cx="31559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Multi-joint trajectory generation for precision arm assembly, torque control, and dynamic obstacle avoidance.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625" y="3005137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40625" y="3652837"/>
            <a:ext cx="271440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Stochastic Policy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3995737"/>
            <a:ext cx="31559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Adaptive variance tuning allows robots to explore safely around high-risk physical operational boundaries.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2275" y="3148012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3500" y="3148012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Applications in Robotics &amp; Autonomous Driving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194" y="2280344"/>
            <a:ext cx="211961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737544"/>
            <a:ext cx="90011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Advanced Policy Optimization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987105"/>
            <a:ext cx="74295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Stabilizing deep policy learning: Proximal Policy Optimization (PPO), TRPO, and Deep Deterministic Policy Gradient (DDPG).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12156"/>
            <a:ext cx="54673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370" y="534590"/>
            <a:ext cx="1577429" cy="2500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477392"/>
            <a:ext cx="574071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PPO Clipped Objective Equation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934592"/>
            <a:ext cx="4279106" cy="2506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3394769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TRPO: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Enforces hard KL-divergence trust region constraint via second-order Hessian computation.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85319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PPO: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Replaces second-order optimization with first-order clipped surrogate objective for high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75869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DDPG: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Off-policy actor-critic algorithm utilizing deterministic policy gradient with replay buffers.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2021681"/>
            <a:ext cx="5448300" cy="360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3451919"/>
            <a:ext cx="523279" cy="14927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1858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009132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599682"/>
            <a:ext cx="1714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PPO, TRPO &amp; DDPG Mathematical Mechanics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72680"/>
            <a:ext cx="11277600" cy="18984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414" y="534590"/>
            <a:ext cx="1462385" cy="25003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725" y="2882205"/>
          <a:ext cx="11258546" cy="1879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58167"/>
                <a:gridCol w="2554783"/>
                <a:gridCol w="2173485"/>
                <a:gridCol w="2621458"/>
                <a:gridCol w="2850653"/>
              </a:tblGrid>
              <a:tr h="46985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Technique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Optimization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Sample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Monotonic Convergence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Implementation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98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Second-Order Conjugate Gradient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Moderate (On-Policy)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Guaranteed via KL 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(Hessian Vector Products)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98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First-Order Clipped SGD / Adam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 (Multiple Epoch Rollouts)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Empirically Stable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Low / Highly Robust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85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DDPG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Off-Policy Deterministic Gradient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Very High (Replay Buffer)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Prone to Hyperparameter Sensitivity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Moderate (Target Actor/Critic Networks)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6725" y="3819822"/>
            <a:ext cx="1058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4892" y="3819822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79676" y="3819822"/>
            <a:ext cx="21734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3162" y="3819822"/>
            <a:ext cx="2621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74621" y="3819822"/>
            <a:ext cx="28506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725" y="4283571"/>
            <a:ext cx="1058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24892" y="4283571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9676" y="4283571"/>
            <a:ext cx="21734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3162" y="4283571"/>
            <a:ext cx="2621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74621" y="4283571"/>
            <a:ext cx="28506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725" y="4747319"/>
            <a:ext cx="10581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24892" y="4747319"/>
            <a:ext cx="25547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79676" y="4747319"/>
            <a:ext cx="21734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3162" y="4747319"/>
            <a:ext cx="2621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4621" y="4747319"/>
            <a:ext cx="28506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Convergence, Stability &amp; Efficiency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813" y="534590"/>
            <a:ext cx="1893986" cy="2500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194" y="2673250"/>
            <a:ext cx="211961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5437" y="3130450"/>
            <a:ext cx="90011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Sampling-Based Planning &amp; Model-Based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4380011"/>
            <a:ext cx="74295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Accelerating learning curves using dynamic model rollouts, value-equivalence prediction, and MBPO frameworks.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Sampling-Based Planning &amp; MBPO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0777"/>
            <a:ext cx="3632150" cy="23422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850" y="2650777"/>
            <a:ext cx="3632150" cy="23422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650777"/>
            <a:ext cx="3632150" cy="23422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076" y="534590"/>
            <a:ext cx="1787723" cy="2500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888902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3536602"/>
            <a:ext cx="274643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Ensemble Dynamics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879502"/>
            <a:ext cx="3155900" cy="875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Trains an ensemble of bootstrap neural network transition models to quantify and reduce epistemic model uncertainty.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975" y="2888902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17975" y="3536602"/>
            <a:ext cx="193039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Short Model Rollouts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975" y="3879502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Generates short-horizon synthetic rollouts ( ) starting from real environment states, preventing compounding prediction errors.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625" y="2888902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40625" y="3536602"/>
            <a:ext cx="271846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Value-Equivalence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3879502"/>
            <a:ext cx="31559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Optimizes dynamics models specifically for target value estimation accuracy rather than pixel-level or state-space reconstruction precision.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12" y="3031777"/>
            <a:ext cx="2381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5075" y="4093815"/>
            <a:ext cx="617339" cy="231874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0850" y="3031777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7975" y="4160490"/>
            <a:ext cx="667642" cy="95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MBPO Architecture &amp; Model Data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737" y="2280344"/>
            <a:ext cx="2206376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737544"/>
            <a:ext cx="90011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Industrial Applications of Advanced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987105"/>
            <a:ext cx="74295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Deploying Value-Based, Policy-Based, and Model-Based RL in Smart Grids, Autonomous Vehicles, Healthcare, and Finance.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12156"/>
            <a:ext cx="54673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123" y="534590"/>
            <a:ext cx="1558676" cy="2500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36081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Smart Grid Energy: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Dynamic load balancing and battery storage optimization via PPO/DQN.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26631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Algorithmic Trading: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Portfolio management and order execution using continuous policy optimization.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17181"/>
            <a:ext cx="5162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Plus Jakarta Sans"/>
              </a:rPr>
              <a:t>Healthcare Decision Support: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Sepsis treatment dosing strategies using dynamic offline RL.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5" y="2021681"/>
            <a:ext cx="544830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59893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40993"/>
            <a:ext cx="1714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Cross-Industry Deployment &amp; Paradigm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202" y="1661219"/>
            <a:ext cx="1905446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675" y="3509069"/>
            <a:ext cx="5962650" cy="1687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11918" y="2156519"/>
            <a:ext cx="5368014" cy="676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F172A"/>
                </a:solidFill>
                <a:latin typeface="Space Grotesk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1787" y="2985194"/>
            <a:ext cx="644842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Thank you for your attention during this technical evaluation 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400" y="3785294"/>
            <a:ext cx="50292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b="0" sz="1050" i="0" u="none">
                <a:solidFill>
                  <a:srgbClr val="2563EB"/>
                </a:solidFill>
                <a:latin typeface="Plus Jakarta Sans SemiBold"/>
              </a:rPr>
              <a:t>PRESENTER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4068067"/>
            <a:ext cx="502920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b="1" sz="1500" i="0" u="none">
                <a:solidFill>
                  <a:srgbClr val="1E293B"/>
                </a:solidFill>
                <a:latin typeface="Plus Jakarta Sans"/>
              </a:rPr>
              <a:t>K. Bala Murali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1400" y="4401442"/>
            <a:ext cx="50292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64748B"/>
                </a:solidFill>
                <a:latin typeface="Plus Jakarta Sans SemiBold"/>
              </a:rPr>
              <a:t>Register No: 192472010 | Course: MLA0301 (Reinforcement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400" y="4713833"/>
            <a:ext cx="502920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b="0" sz="1050" i="0" u="none">
                <a:solidFill>
                  <a:srgbClr val="059669"/>
                </a:solidFill>
                <a:latin typeface="Plus Jakarta Sans SemiBold"/>
              </a:rPr>
              <a:t>SIMATS Engineering • Department of Computer Science &amp; Engineering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283618"/>
            <a:ext cx="11277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55143"/>
            <a:ext cx="11277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826668"/>
            <a:ext cx="11277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045618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045618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817143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17143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588668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88668"/>
            <a:ext cx="11277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6493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2575" y="2426791"/>
            <a:ext cx="101822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https://richard-warren.github.io/images/blog/rl_imgs/rl_bigpicture.PNG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2575" y="2666255"/>
            <a:ext cx="101822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richard-warren.github.io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98018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2575" y="3198316"/>
            <a:ext cx="101822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https://www.mdpi.com/applsci/applsci-15-01323/article_deploy/html/images/applsci-15-01323-g001.png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2575" y="3437780"/>
            <a:ext cx="101822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www.mdpi.com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6954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2575" y="3969841"/>
            <a:ext cx="101822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https://miro.medium.com/1*jDUO1swpIVqFc4BF3cj1Jg.jpeg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2575" y="4209305"/>
            <a:ext cx="101822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41068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2575" y="4741366"/>
            <a:ext cx="101822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https://d8wojkg2185gh.cloudfront.net/strapi/smart_grid1_546d9acd24.webp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2575" y="4980830"/>
            <a:ext cx="101822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www.cavliwireless.com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"/>
            <a:ext cx="11734800" cy="4238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187"/>
              </a:lnSpc>
            </a:pPr>
            <a:r>
              <a:rPr b="1" sz="2550" i="0" u="none">
                <a:solidFill>
                  <a:srgbClr val="1E293B"/>
                </a:solidFill>
                <a:latin typeface="Space Grotesk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995362"/>
            <a:ext cx="112776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